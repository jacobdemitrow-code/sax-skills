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 them the iPad or turn it toward them. Say: "Here's exactly what I did for Come Home to Clean. Takes about two minutes."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the real site on your phone too if they want to tap around: come-home-to-clean.ullbek.site. Say: "Most service businesses either have no site, or one nobody can figure out how to contact them from."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Send Claude a screenshot of your Facebook auto-reply working, and it will be added here.</a:t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"This one text cost me nothing. Every business has a list of old customers they never reach out to."</a:t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"Most owners never ask for reviews because it feels awkward. This makes it automatic."</a:t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them the real pinned post on your Facebook page too. Say: "Price is the number one question. Posting it up front saves me hours of back-and-forth."</a:t>
            </a:r>
            <a:endParaRPr/>
          </a:p>
        </p:txBody>
      </p:sp>
      <p:sp>
        <p:nvSpPr>
          <p:cNvPr id="69" name="Google Shape;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Fill these in with your real numbers after the holiday text goes out. Until then, skip this slide.</a:t>
            </a:r>
            <a:endParaRPr/>
          </a:p>
        </p:txBody>
      </p:sp>
      <p:sp>
        <p:nvSpPr>
          <p:cNvPr id="100" name="Google Shape;1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the price, then ask: "Want me to get started?" Then stop talking.</a:t>
            </a:r>
            <a:endParaRPr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2800" y="185549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6FF"/>
              </a:buClr>
              <a:buSzPts val="1600"/>
              <a:buFont typeface="Nunito Sans"/>
              <a:buNone/>
            </a:pPr>
            <a:r>
              <a:rPr b="1" i="0" lang="en-US" sz="1600" u="none" cap="none" strike="noStrike">
                <a:solidFill>
                  <a:srgbClr val="B9A6FF"/>
                </a:solidFill>
                <a:latin typeface="Nunito Sans"/>
                <a:ea typeface="Nunito Sans"/>
                <a:cs typeface="Nunito Sans"/>
                <a:sym typeface="Nunito Sans"/>
              </a:rPr>
              <a:t>COME HOME TO CLEAN · INLAND EMPIRE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12800" y="2393950"/>
            <a:ext cx="10883392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FAF8FF"/>
                </a:solidFill>
                <a:latin typeface="Rubik"/>
                <a:ea typeface="Rubik"/>
                <a:cs typeface="Rubik"/>
                <a:sym typeface="Rubik"/>
              </a:rPr>
              <a:t>What I set up for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FAF8FF"/>
                </a:solidFill>
                <a:latin typeface="Rubik"/>
                <a:ea typeface="Rubik"/>
                <a:cs typeface="Rubik"/>
                <a:sym typeface="Rubik"/>
              </a:rPr>
              <a:t>my own business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800" y="4248150"/>
            <a:ext cx="8502650" cy="779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2200"/>
              <a:buFont typeface="Nunito Sans"/>
              <a:buNone/>
            </a:pPr>
            <a:r>
              <a:rPr b="0" i="0" lang="en-US" sz="2200" u="none" cap="none" strike="noStrike">
                <a:solidFill>
                  <a:srgbClr val="CFC8E8"/>
                </a:solidFill>
                <a:latin typeface="Nunito Sans"/>
                <a:ea typeface="Nunito Sans"/>
                <a:cs typeface="Nunito Sans"/>
                <a:sym typeface="Nunito Sans"/>
              </a:rPr>
              <a:t>Five simple things that bring in more calls. Took me less than a week.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12800" y="6202759"/>
            <a:ext cx="784860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400"/>
              <a:buFont typeface="Nunito Sans"/>
              <a:buNone/>
            </a:pPr>
            <a:r>
              <a:rPr b="0" i="0" lang="en-US" sz="1400" u="none" cap="none" strike="noStrike">
                <a:solidFill>
                  <a:srgbClr val="CFC8E8"/>
                </a:solidFill>
                <a:latin typeface="Nunito Sans"/>
                <a:ea typeface="Nunito Sans"/>
                <a:cs typeface="Nunito Sans"/>
                <a:sym typeface="Nunito Sans"/>
              </a:rPr>
              <a:t>Jacob · SAX — Never miss another customer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812800" y="2058789"/>
            <a:ext cx="770470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1 · A WEBSITE THAT BRINGS IN LEADS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12800" y="2536230"/>
            <a:ext cx="7704709" cy="103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People see my work and contact me right away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56234" y="3770511"/>
            <a:ext cx="7653655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0566" lvl="0" marL="21056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Char char="•"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A big “Book now” button at the top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0566" lvl="0" marL="21056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Char char="•"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Before and after photos of real jobs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0566" lvl="0" marL="210566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Char char="•"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A form that sends new leads straight to 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902700" y="812800"/>
            <a:ext cx="2476500" cy="5232400"/>
          </a:xfrm>
          <a:prstGeom prst="roundRect">
            <a:avLst>
              <a:gd fmla="val 10256" name="adj"/>
            </a:avLst>
          </a:prstGeom>
          <a:solidFill>
            <a:srgbClr val="0B0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hone screenshot of the Come Home to Clean website home page with Book now and See your price buttons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7911" y="825500"/>
            <a:ext cx="2406078" cy="5207000"/>
          </a:xfrm>
          <a:custGeom>
            <a:rect b="b" l="l" r="r" t="t"/>
            <a:pathLst>
              <a:path extrusionOk="0" h="5207000" w="2406078">
                <a:moveTo>
                  <a:pt x="0" y="139531"/>
                </a:moveTo>
                <a:cubicBezTo>
                  <a:pt x="39586" y="54427"/>
                  <a:pt x="124929" y="0"/>
                  <a:pt x="218789" y="0"/>
                </a:cubicBezTo>
                <a:lnTo>
                  <a:pt x="2187289" y="0"/>
                </a:lnTo>
                <a:cubicBezTo>
                  <a:pt x="2281149" y="0"/>
                  <a:pt x="2366492" y="54427"/>
                  <a:pt x="2406078" y="139531"/>
                </a:cubicBezTo>
                <a:lnTo>
                  <a:pt x="2406078" y="5067469"/>
                </a:lnTo>
                <a:cubicBezTo>
                  <a:pt x="2366492" y="5152573"/>
                  <a:pt x="2281149" y="5207000"/>
                  <a:pt x="2187289" y="5207000"/>
                </a:cubicBezTo>
                <a:lnTo>
                  <a:pt x="218789" y="5207000"/>
                </a:lnTo>
                <a:cubicBezTo>
                  <a:pt x="124929" y="5207000"/>
                  <a:pt x="39586" y="5152573"/>
                  <a:pt x="0" y="506746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8909050" y="819150"/>
            <a:ext cx="2463800" cy="5219700"/>
          </a:xfrm>
          <a:prstGeom prst="roundRect">
            <a:avLst>
              <a:gd fmla="val 10052" name="adj"/>
            </a:avLst>
          </a:prstGeom>
          <a:noFill/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812800" y="2230239"/>
            <a:ext cx="6331204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2 · FACEBOOK AUTO-REPLY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812800" y="2707680"/>
            <a:ext cx="6331204" cy="103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Every message gets an answer in seconds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812800" y="3941961"/>
            <a:ext cx="6331204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Even when I’m in the middle of a job. People who message a business usually move on if nobody answers.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7578725" y="822325"/>
            <a:ext cx="3790950" cy="5213350"/>
          </a:xfrm>
          <a:prstGeom prst="roundRect">
            <a:avLst>
              <a:gd fmla="val 6449" name="adj"/>
            </a:avLst>
          </a:prstGeom>
          <a:solidFill>
            <a:srgbClr val="F3F0FF"/>
          </a:solidFill>
          <a:ln cap="flat" cmpd="sng" w="19050">
            <a:solidFill>
              <a:srgbClr val="B9A6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8040936" y="2943920"/>
            <a:ext cx="2866430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800"/>
              <a:buFont typeface="Nunito Sans"/>
              <a:buNone/>
            </a:pPr>
            <a:r>
              <a:rPr b="1" i="0" lang="en-US" sz="18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[Your screenshot here]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7845615" y="3416300"/>
            <a:ext cx="3257169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400"/>
              <a:buFont typeface="Nunito Sans"/>
              <a:buNone/>
            </a:pPr>
            <a:r>
              <a:rPr b="0" i="0" lang="en-US" sz="14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A screenshot of your auto-reply answering a real message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812800" y="2230239"/>
            <a:ext cx="5284724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3 · THE BRING-BACK 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12800" y="2707680"/>
            <a:ext cx="5284724" cy="103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Old customers are the easiest jobs to book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12800" y="3941961"/>
            <a:ext cx="5284724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I send this one person at a time, with their name. No ads, no cost.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6559550" y="1805384"/>
            <a:ext cx="4813300" cy="3247231"/>
          </a:xfrm>
          <a:prstGeom prst="roundRect">
            <a:avLst>
              <a:gd fmla="val 7626" name="adj"/>
            </a:avLst>
          </a:prstGeom>
          <a:solidFill>
            <a:srgbClr val="FFFF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6870700" y="2116534"/>
            <a:ext cx="431673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85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6B6585"/>
                </a:solidFill>
                <a:latin typeface="Nunito Sans"/>
                <a:ea typeface="Nunito Sans"/>
                <a:cs typeface="Nunito Sans"/>
                <a:sym typeface="Nunito Sans"/>
              </a:rPr>
              <a:t>The text I send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870700" y="2456855"/>
            <a:ext cx="4191000" cy="2284611"/>
          </a:xfrm>
          <a:prstGeom prst="roundRect">
            <a:avLst>
              <a:gd fmla="val 8894" name="adj"/>
            </a:avLst>
          </a:prstGeom>
          <a:solidFill>
            <a:srgbClr val="6A4BD9"/>
          </a:solidFill>
          <a:ln>
            <a:noFill/>
          </a:ln>
        </p:spPr>
        <p:txBody>
          <a:bodyPr anchorCtr="0" anchor="t" bIns="118275" lIns="143675" spcFirstLastPara="1" rIns="30125" wrap="square" tIns="143675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1700"/>
              <a:buFont typeface="Nunito Sans"/>
              <a:buNone/>
            </a:pPr>
            <a:r>
              <a:rPr b="0" i="0" lang="en-US" sz="1700" u="none" cap="none" strike="noStrike">
                <a:solidFill>
                  <a:srgbClr val="FAF8FF"/>
                </a:solidFill>
                <a:latin typeface="Nunito Sans"/>
                <a:ea typeface="Nunito Sans"/>
                <a:cs typeface="Nunito Sans"/>
                <a:sym typeface="Nunito Sans"/>
              </a:rPr>
              <a:t>Hi [Name], it’s Jacob from Come Home to Clean! The holidays are coming up fast, and I’m booking pre-Thanksgiving deep cleans now. I only have a few spots left. Want me to save one for you?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>
            <a:off x="812800" y="2230239"/>
            <a:ext cx="5284724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4 · REVIEWS AND REFERRALS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812800" y="2707680"/>
            <a:ext cx="5284724" cy="103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Happy customers bring the next ones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812800" y="3941961"/>
            <a:ext cx="5284724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Two short texts after every job. A phone shortcut types them for me in seconds.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6559550" y="1424980"/>
            <a:ext cx="4813300" cy="4008041"/>
          </a:xfrm>
          <a:prstGeom prst="roundRect">
            <a:avLst>
              <a:gd fmla="val 6179" name="adj"/>
            </a:avLst>
          </a:prstGeom>
          <a:solidFill>
            <a:srgbClr val="FFFF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6870700" y="1736130"/>
            <a:ext cx="431673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85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6B6585"/>
                </a:solidFill>
                <a:latin typeface="Nunito Sans"/>
                <a:ea typeface="Nunito Sans"/>
                <a:cs typeface="Nunito Sans"/>
                <a:sym typeface="Nunito Sans"/>
              </a:rPr>
              <a:t>Right after the job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6870700" y="2076450"/>
            <a:ext cx="4191000" cy="1422400"/>
          </a:xfrm>
          <a:prstGeom prst="roundRect">
            <a:avLst>
              <a:gd fmla="val 14286" name="adj"/>
            </a:avLst>
          </a:prstGeom>
          <a:solidFill>
            <a:srgbClr val="6A4BD9"/>
          </a:solidFill>
          <a:ln>
            <a:noFill/>
          </a:ln>
        </p:spPr>
        <p:txBody>
          <a:bodyPr anchorCtr="0" anchor="t" bIns="92875" lIns="118275" spcFirstLastPara="1" rIns="3200" wrap="square" tIns="118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1500"/>
              <a:buFont typeface="Nunito Sans"/>
              <a:buNone/>
            </a:pPr>
            <a:r>
              <a:rPr b="0" i="0" lang="en-US" sz="1500" u="none" cap="none" strike="noStrike">
                <a:solidFill>
                  <a:srgbClr val="FAF8FF"/>
                </a:solidFill>
                <a:latin typeface="Nunito Sans"/>
                <a:ea typeface="Nunito Sans"/>
                <a:cs typeface="Nunito Sans"/>
                <a:sym typeface="Nunito Sans"/>
              </a:rPr>
              <a:t>Thanks for having us today, [Name]! If you’re happy with how it turned out, would you leave us a quick Google review? It really helps a small local business. [review link]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870700" y="3625850"/>
            <a:ext cx="431673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85"/>
              </a:buClr>
              <a:buSzPts val="1200"/>
              <a:buFont typeface="Nunito Sans"/>
              <a:buNone/>
            </a:pPr>
            <a:r>
              <a:rPr b="1" i="0" lang="en-US" sz="1200" u="none" cap="none" strike="noStrike">
                <a:solidFill>
                  <a:srgbClr val="6B6585"/>
                </a:solidFill>
                <a:latin typeface="Nunito Sans"/>
                <a:ea typeface="Nunito Sans"/>
                <a:cs typeface="Nunito Sans"/>
                <a:sym typeface="Nunito Sans"/>
              </a:rPr>
              <a:t>A week later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6870700" y="3966170"/>
            <a:ext cx="4191000" cy="1155700"/>
          </a:xfrm>
          <a:prstGeom prst="roundRect">
            <a:avLst>
              <a:gd fmla="val 17582" name="adj"/>
            </a:avLst>
          </a:prstGeom>
          <a:solidFill>
            <a:srgbClr val="6A4BD9"/>
          </a:solidFill>
          <a:ln>
            <a:noFill/>
          </a:ln>
        </p:spPr>
        <p:txBody>
          <a:bodyPr anchorCtr="0" anchor="t" bIns="92875" lIns="118275" spcFirstLastPara="1" rIns="3200" wrap="square" tIns="118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1500"/>
              <a:buFont typeface="Nunito Sans"/>
              <a:buNone/>
            </a:pPr>
            <a:r>
              <a:rPr b="0" i="0" lang="en-US" sz="1500" u="none" cap="none" strike="noStrike">
                <a:solidFill>
                  <a:srgbClr val="FAF8FF"/>
                </a:solidFill>
                <a:latin typeface="Nunito Sans"/>
                <a:ea typeface="Nunito Sans"/>
                <a:cs typeface="Nunito Sans"/>
                <a:sym typeface="Nunito Sans"/>
              </a:rPr>
              <a:t>Know anyone who could use a deep clean? Send them my way. When they book, you get a free add-on on your next clean.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5 · POSTED PRICES, PINNED TO MY PAGE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812800" y="1214041"/>
            <a:ext cx="10883392" cy="919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200"/>
              <a:buFont typeface="Rubik"/>
              <a:buNone/>
            </a:pPr>
            <a:r>
              <a:rPr b="1" i="0" lang="en-US" sz="32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Customers see my prices before they ask, so less haggling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19150" y="241915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1028700" y="262870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Regular clean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1028700" y="294620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3498850" y="241915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3708400" y="262870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Deep clean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3708400" y="294620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$175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6178550" y="241915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6388100" y="262870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Move-out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6388100" y="294620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$200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8858250" y="241915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9067800" y="262870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Organizing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9067800" y="294620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$195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819150" y="371197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1028700" y="392152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Carpet washing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028700" y="423902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3498850" y="371197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3708400" y="392152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Power washing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3708400" y="423902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$125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6178550" y="371197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6388100" y="392152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Office cleaning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388100" y="423902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$175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8858250" y="3711972"/>
            <a:ext cx="2514600" cy="1127720"/>
          </a:xfrm>
          <a:prstGeom prst="roundRect">
            <a:avLst>
              <a:gd fmla="val 12951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9067800" y="3921522"/>
            <a:ext cx="215836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1500"/>
              <a:buFont typeface="Nunito Sans"/>
              <a:buNone/>
            </a:pPr>
            <a:r>
              <a:rPr b="1" i="0" lang="en-US" sz="1500" u="none" cap="none" strike="noStrike">
                <a:solidFill>
                  <a:srgbClr val="14121E"/>
                </a:solidFill>
                <a:latin typeface="Nunito Sans"/>
                <a:ea typeface="Nunito Sans"/>
                <a:cs typeface="Nunito Sans"/>
                <a:sym typeface="Nunito Sans"/>
              </a:rPr>
              <a:t>Restaurant kitchen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9067800" y="4239022"/>
            <a:ext cx="2158365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2200"/>
              <a:buFont typeface="Nunito Sans"/>
              <a:buNone/>
            </a:pPr>
            <a:r>
              <a:rPr b="1" i="0" lang="en-US" sz="22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from $400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1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812800" y="178822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6FF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B9A6FF"/>
                </a:solidFill>
                <a:latin typeface="Nunito Sans"/>
                <a:ea typeface="Nunito Sans"/>
                <a:cs typeface="Nunito Sans"/>
                <a:sym typeface="Nunito Sans"/>
              </a:rPr>
              <a:t>MY RESULTS SO FAR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812800" y="218946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AF8FF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FAF8FF"/>
                </a:solidFill>
                <a:latin typeface="Rubik"/>
                <a:ea typeface="Rubik"/>
                <a:cs typeface="Rubik"/>
                <a:sym typeface="Rubik"/>
              </a:rPr>
              <a:t>From one text to my old customers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19150" y="3105051"/>
            <a:ext cx="3373934" cy="1958280"/>
          </a:xfrm>
          <a:prstGeom prst="roundRect">
            <a:avLst>
              <a:gd fmla="val 7458" name="adj"/>
            </a:avLst>
          </a:prstGeom>
          <a:noFill/>
          <a:ln cap="flat" cmpd="sng" w="12700">
            <a:solidFill>
              <a:srgbClr val="4A4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1079500" y="3365401"/>
            <a:ext cx="2938831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6FF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B9A6FF"/>
                </a:solidFill>
                <a:latin typeface="Rubik"/>
                <a:ea typeface="Rubik"/>
                <a:cs typeface="Rubik"/>
                <a:sym typeface="Rubik"/>
              </a:rPr>
              <a:t>[__]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1079500" y="4483001"/>
            <a:ext cx="2938831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CFC8E8"/>
                </a:solidFill>
                <a:latin typeface="Nunito Sans"/>
                <a:ea typeface="Nunito Sans"/>
                <a:cs typeface="Nunito Sans"/>
                <a:sym typeface="Nunito Sans"/>
              </a:rPr>
              <a:t>texts sent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408984" y="3105051"/>
            <a:ext cx="3373934" cy="1958280"/>
          </a:xfrm>
          <a:prstGeom prst="roundRect">
            <a:avLst>
              <a:gd fmla="val 7458" name="adj"/>
            </a:avLst>
          </a:prstGeom>
          <a:noFill/>
          <a:ln cap="flat" cmpd="sng" w="12700">
            <a:solidFill>
              <a:srgbClr val="4A4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4669334" y="3365401"/>
            <a:ext cx="2938831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6FF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B9A6FF"/>
                </a:solidFill>
                <a:latin typeface="Rubik"/>
                <a:ea typeface="Rubik"/>
                <a:cs typeface="Rubik"/>
                <a:sym typeface="Rubik"/>
              </a:rPr>
              <a:t>[__]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669334" y="4483001"/>
            <a:ext cx="2938831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CFC8E8"/>
                </a:solidFill>
                <a:latin typeface="Nunito Sans"/>
                <a:ea typeface="Nunito Sans"/>
                <a:cs typeface="Nunito Sans"/>
                <a:sym typeface="Nunito Sans"/>
              </a:rPr>
              <a:t>replies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7998817" y="3105051"/>
            <a:ext cx="3373934" cy="1958280"/>
          </a:xfrm>
          <a:prstGeom prst="roundRect">
            <a:avLst>
              <a:gd fmla="val 7458" name="adj"/>
            </a:avLst>
          </a:prstGeom>
          <a:noFill/>
          <a:ln cap="flat" cmpd="sng" w="12700">
            <a:solidFill>
              <a:srgbClr val="4A4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8259167" y="3365401"/>
            <a:ext cx="2938831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6FF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B9A6FF"/>
                </a:solidFill>
                <a:latin typeface="Rubik"/>
                <a:ea typeface="Rubik"/>
                <a:cs typeface="Rubik"/>
                <a:sym typeface="Rubik"/>
              </a:rPr>
              <a:t>[__]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8259167" y="4483001"/>
            <a:ext cx="2938831" cy="34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C8E8"/>
              </a:buClr>
              <a:buSzPts val="1800"/>
              <a:buFont typeface="Nunito Sans"/>
              <a:buNone/>
            </a:pPr>
            <a:r>
              <a:rPr b="0" i="0" lang="en-US" sz="1800" u="none" cap="none" strike="noStrike">
                <a:solidFill>
                  <a:srgbClr val="CFC8E8"/>
                </a:solidFill>
                <a:latin typeface="Nunito Sans"/>
                <a:ea typeface="Nunito Sans"/>
                <a:cs typeface="Nunito Sans"/>
                <a:sym typeface="Nunito Sans"/>
              </a:rPr>
              <a:t>jobs booked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1400"/>
              <a:buFont typeface="Nunito Sans"/>
              <a:buNone/>
            </a:pPr>
            <a:r>
              <a:rPr b="1" i="0" lang="en-US" sz="1400" u="none" cap="none" strike="noStrike">
                <a:solidFill>
                  <a:srgbClr val="5B3FCC"/>
                </a:solidFill>
                <a:latin typeface="Nunito Sans"/>
                <a:ea typeface="Nunito Sans"/>
                <a:cs typeface="Nunito Sans"/>
                <a:sym typeface="Nunito Sans"/>
              </a:rPr>
              <a:t>FOR YOUR BUSINESS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812800" y="1214041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I’ll set up the same thing for you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812800" y="6220520"/>
            <a:ext cx="1088339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300"/>
              <a:buFont typeface="Nunito Sans"/>
              <a:buNone/>
            </a:pPr>
            <a:r>
              <a:rPr b="0" i="0" lang="en-US" sz="130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Founding prices for my first 3 businesses · Jacob · 951-418-0216 · jacobdemitrow@gmail.com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SAX price 300"/>
          <p:cNvSpPr/>
          <p:nvPr/>
        </p:nvSpPr>
        <p:spPr>
          <a:xfrm>
            <a:off x="812800" y="188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SAX price 301"/>
          <p:cNvSpPr/>
          <p:nvPr/>
        </p:nvSpPr>
        <p:spPr>
          <a:xfrm>
            <a:off x="982800" y="200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Never Miss a Lead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SAX price 302"/>
          <p:cNvSpPr/>
          <p:nvPr/>
        </p:nvSpPr>
        <p:spPr>
          <a:xfrm>
            <a:off x="982800" y="222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$400 + $50/mo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SAX price 303"/>
          <p:cNvSpPr/>
          <p:nvPr/>
        </p:nvSpPr>
        <p:spPr>
          <a:xfrm>
            <a:off x="982800" y="251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Auto-reply, booking form, lead tracker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SAX price 304"/>
          <p:cNvSpPr/>
          <p:nvPr/>
        </p:nvSpPr>
        <p:spPr>
          <a:xfrm>
            <a:off x="4504097" y="188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SAX price 305"/>
          <p:cNvSpPr/>
          <p:nvPr/>
        </p:nvSpPr>
        <p:spPr>
          <a:xfrm>
            <a:off x="4674097" y="200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Win Back Old Customers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SAX price 306"/>
          <p:cNvSpPr/>
          <p:nvPr/>
        </p:nvSpPr>
        <p:spPr>
          <a:xfrm>
            <a:off x="4674097" y="222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$150 + $30/mo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SAX price 307"/>
          <p:cNvSpPr/>
          <p:nvPr/>
        </p:nvSpPr>
        <p:spPr>
          <a:xfrm>
            <a:off x="4674097" y="251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Ready-to-send bring-back text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SAX price 308"/>
          <p:cNvSpPr/>
          <p:nvPr/>
        </p:nvSpPr>
        <p:spPr>
          <a:xfrm>
            <a:off x="8195394" y="188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SAX price 309"/>
          <p:cNvSpPr/>
          <p:nvPr/>
        </p:nvSpPr>
        <p:spPr>
          <a:xfrm>
            <a:off x="8365394" y="200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Get More Reviews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SAX price 310"/>
          <p:cNvSpPr/>
          <p:nvPr/>
        </p:nvSpPr>
        <p:spPr>
          <a:xfrm>
            <a:off x="8365394" y="222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$150 + $30/mo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SAX price 311"/>
          <p:cNvSpPr/>
          <p:nvPr/>
        </p:nvSpPr>
        <p:spPr>
          <a:xfrm>
            <a:off x="8365394" y="251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Review &amp; referral texts after every job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SAX price 312"/>
          <p:cNvSpPr/>
          <p:nvPr/>
        </p:nvSpPr>
        <p:spPr>
          <a:xfrm>
            <a:off x="812800" y="2905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SAX price 313"/>
          <p:cNvSpPr/>
          <p:nvPr/>
        </p:nvSpPr>
        <p:spPr>
          <a:xfrm>
            <a:off x="982800" y="3025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Know Your Price in Seconds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SAX price 314"/>
          <p:cNvSpPr/>
          <p:nvPr/>
        </p:nvSpPr>
        <p:spPr>
          <a:xfrm>
            <a:off x="982800" y="3250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$200 + $20/mo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SAX price 315"/>
          <p:cNvSpPr/>
          <p:nvPr/>
        </p:nvSpPr>
        <p:spPr>
          <a:xfrm>
            <a:off x="982800" y="3535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Instant price calculator / quote tool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SAX price 316"/>
          <p:cNvSpPr/>
          <p:nvPr/>
        </p:nvSpPr>
        <p:spPr>
          <a:xfrm>
            <a:off x="4504097" y="2905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SAX price 317"/>
          <p:cNvSpPr/>
          <p:nvPr/>
        </p:nvSpPr>
        <p:spPr>
          <a:xfrm>
            <a:off x="4674097" y="3025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Get Found Online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SAX price 318"/>
          <p:cNvSpPr/>
          <p:nvPr/>
        </p:nvSpPr>
        <p:spPr>
          <a:xfrm>
            <a:off x="4674097" y="3250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$800 + $50/mo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SAX price 319"/>
          <p:cNvSpPr/>
          <p:nvPr/>
        </p:nvSpPr>
        <p:spPr>
          <a:xfrm>
            <a:off x="4674097" y="3535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Full website build + widgets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SAX price 320"/>
          <p:cNvSpPr/>
          <p:nvPr/>
        </p:nvSpPr>
        <p:spPr>
          <a:xfrm>
            <a:off x="8195394" y="2905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SAX price 321"/>
          <p:cNvSpPr/>
          <p:nvPr/>
        </p:nvSpPr>
        <p:spPr>
          <a:xfrm>
            <a:off x="8365394" y="3025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Lead Generation Page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SAX price 322"/>
          <p:cNvSpPr/>
          <p:nvPr/>
        </p:nvSpPr>
        <p:spPr>
          <a:xfrm>
            <a:off x="8365394" y="3250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$300 + $40/mo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SAX price 323"/>
          <p:cNvSpPr/>
          <p:nvPr/>
        </p:nvSpPr>
        <p:spPr>
          <a:xfrm>
            <a:off x="8365394" y="3535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Local leads, one-tap call/text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SAX price 324"/>
          <p:cNvSpPr/>
          <p:nvPr/>
        </p:nvSpPr>
        <p:spPr>
          <a:xfrm>
            <a:off x="812800" y="393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SAX price 325"/>
          <p:cNvSpPr/>
          <p:nvPr/>
        </p:nvSpPr>
        <p:spPr>
          <a:xfrm>
            <a:off x="982800" y="405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Sunday Auto-Update (add-on)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SAX price 326"/>
          <p:cNvSpPr/>
          <p:nvPr/>
        </p:nvSpPr>
        <p:spPr>
          <a:xfrm>
            <a:off x="982800" y="427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$40/mo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SAX price 327"/>
          <p:cNvSpPr/>
          <p:nvPr/>
        </p:nvSpPr>
        <p:spPr>
          <a:xfrm>
            <a:off x="982800" y="456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Weekly lead refresh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SAX price 328"/>
          <p:cNvSpPr/>
          <p:nvPr/>
        </p:nvSpPr>
        <p:spPr>
          <a:xfrm>
            <a:off x="4504097" y="393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SAX price 329"/>
          <p:cNvSpPr/>
          <p:nvPr/>
        </p:nvSpPr>
        <p:spPr>
          <a:xfrm>
            <a:off x="4674097" y="405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One-Scan QR Code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SAX price 330"/>
          <p:cNvSpPr/>
          <p:nvPr/>
        </p:nvSpPr>
        <p:spPr>
          <a:xfrm>
            <a:off x="4674097" y="427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$125 + $25/mo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SAX price 331"/>
          <p:cNvSpPr/>
          <p:nvPr/>
        </p:nvSpPr>
        <p:spPr>
          <a:xfrm>
            <a:off x="4674097" y="456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Reviews, booking &amp; social in one scan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SAX price 332"/>
          <p:cNvSpPr/>
          <p:nvPr/>
        </p:nvSpPr>
        <p:spPr>
          <a:xfrm>
            <a:off x="8195394" y="3930000"/>
            <a:ext cx="3500797" cy="900000"/>
          </a:xfrm>
          <a:prstGeom prst="roundRect">
            <a:avLst>
              <a:gd fmla="val 7554" name="adj"/>
            </a:avLst>
          </a:prstGeom>
          <a:solidFill>
            <a:srgbClr val="F3F0FF"/>
          </a:solidFill>
          <a:ln cap="flat" cmpd="sng" w="12700">
            <a:solidFill>
              <a:srgbClr val="DC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SAX price 333"/>
          <p:cNvSpPr/>
          <p:nvPr/>
        </p:nvSpPr>
        <p:spPr>
          <a:xfrm>
            <a:off x="8365394" y="4050000"/>
            <a:ext cx="3160797" cy="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35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Price Menu Graphic (add-on)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SAX price 334"/>
          <p:cNvSpPr/>
          <p:nvPr/>
        </p:nvSpPr>
        <p:spPr>
          <a:xfrm>
            <a:off x="8365394" y="4275000"/>
            <a:ext cx="3160797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17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$60 one time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SAX price 335"/>
          <p:cNvSpPr/>
          <p:nvPr/>
        </p:nvSpPr>
        <p:spPr>
          <a:xfrm>
            <a:off x="8365394" y="4560000"/>
            <a:ext cx="3160797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0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Starting-at price list, pinned to Facebook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SAX price 336"/>
          <p:cNvSpPr/>
          <p:nvPr/>
        </p:nvSpPr>
        <p:spPr>
          <a:xfrm>
            <a:off x="812800" y="4970000"/>
            <a:ext cx="10883392" cy="960000"/>
          </a:xfrm>
          <a:prstGeom prst="roundRect">
            <a:avLst>
              <a:gd fmla="val 7450" name="adj"/>
            </a:avLst>
          </a:prstGeom>
          <a:solidFill>
            <a:srgbClr val="FFFFFF"/>
          </a:solidFill>
          <a:ln cap="flat" cmpd="sng" w="19050">
            <a:solidFill>
              <a:srgbClr val="6A4B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SAX price 337"/>
          <p:cNvSpPr/>
          <p:nvPr/>
        </p:nvSpPr>
        <p:spPr>
          <a:xfrm>
            <a:off x="1072800" y="5190000"/>
            <a:ext cx="56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21E"/>
              </a:buClr>
              <a:buSzPts val="2000"/>
              <a:buFont typeface="Rubik"/>
              <a:buNone/>
            </a:pPr>
            <a:r>
              <a:rPr b="1" i="0" lang="en-US" sz="1900" u="none" cap="none" strike="noStrike">
                <a:solidFill>
                  <a:srgbClr val="14121E"/>
                </a:solidFill>
                <a:latin typeface="Rubik"/>
                <a:ea typeface="Rubik"/>
                <a:cs typeface="Rubik"/>
                <a:sym typeface="Rubik"/>
              </a:rPr>
              <a:t>The Everything Bundle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SAX price 338"/>
          <p:cNvSpPr/>
          <p:nvPr/>
        </p:nvSpPr>
        <p:spPr>
          <a:xfrm>
            <a:off x="1072800" y="5530000"/>
            <a:ext cx="62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560"/>
              </a:buClr>
              <a:buSzPts val="1600"/>
              <a:buFont typeface="Nunito Sans"/>
              <a:buNone/>
            </a:pPr>
            <a:r>
              <a:rPr b="0" i="0" lang="en-US" sz="1250" u="none" cap="none" strike="noStrike">
                <a:solidFill>
                  <a:srgbClr val="4A4560"/>
                </a:solidFill>
                <a:latin typeface="Nunito Sans"/>
                <a:ea typeface="Nunito Sans"/>
                <a:cs typeface="Nunito Sans"/>
                <a:sym typeface="Nunito Sans"/>
              </a:rPr>
              <a:t>All 8 services together (QR Code included free)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SAX price 339"/>
          <p:cNvSpPr/>
          <p:nvPr/>
        </p:nvSpPr>
        <p:spPr>
          <a:xfrm>
            <a:off x="7136192" y="4970000"/>
            <a:ext cx="430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FCC"/>
              </a:buClr>
              <a:buSzPts val="4800"/>
              <a:buFont typeface="Rubik"/>
              <a:buNone/>
            </a:pPr>
            <a:r>
              <a:rPr b="1" i="0" lang="en-US" sz="3000" u="none" cap="none" strike="noStrike">
                <a:solidFill>
                  <a:srgbClr val="5B3FCC"/>
                </a:solidFill>
                <a:latin typeface="Rubik"/>
                <a:ea typeface="Rubik"/>
                <a:cs typeface="Rubik"/>
                <a:sym typeface="Rubik"/>
              </a:rPr>
              <a:t>$2,000 + $260/mo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